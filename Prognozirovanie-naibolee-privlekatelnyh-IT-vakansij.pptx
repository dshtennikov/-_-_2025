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8229600" cx="14630400"/>
  <p:notesSz cx="8229600" cy="14630400"/>
  <p:embeddedFontLst>
    <p:embeddedFont>
      <p:font typeface="Golos Text"/>
      <p:regular r:id="rId18"/>
      <p:bold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etrona"/>
      <p:bold r:id="rId24"/>
      <p:boldItalic r:id="rId25"/>
    </p:embeddedFont>
    <p:embeddedFont>
      <p:font typeface="Golos Text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SjisGhm49DJxImfup3qS6qSIP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Любовь Силакова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etrona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losTextSemiBold-regular.fntdata"/><Relationship Id="rId25" Type="http://schemas.openxmlformats.org/officeDocument/2006/relationships/font" Target="fonts/Petrona-boldItalic.fntdata"/><Relationship Id="rId28" Type="http://customschemas.google.com/relationships/presentationmetadata" Target="metadata"/><Relationship Id="rId27" Type="http://schemas.openxmlformats.org/officeDocument/2006/relationships/font" Target="fonts/GolosTex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GolosText-bold.fntdata"/><Relationship Id="rId18" Type="http://schemas.openxmlformats.org/officeDocument/2006/relationships/font" Target="fonts/GolosText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25T21:18:20.554">
    <p:pos x="5832" y="2320"/>
    <p:text>уточнить
малые значения R2 могут говорить о низкой применимости для прогнозирования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ty6p1D4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ce2c842c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6ce2c842c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6ce2c842c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ce2c842c1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ce2c842c1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6ce2c842c1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drive/folders/1qwPEw5pcv1JvqSjuoI-x4clrNfPWUUff" TargetMode="External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fy1RmklJdQBxZrHUyQUYRcudB96u7J68/view?usp=sharing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colab.research.google.com/drive/1MFw1XGey0nfVDJhlcCl7rwuxGjGf8wXe#scrollTo=MEExMqGkcRMU" TargetMode="External"/><Relationship Id="rId6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23.png"/><Relationship Id="rId5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ce2c842c1_0_0"/>
          <p:cNvSpPr txBox="1"/>
          <p:nvPr/>
        </p:nvSpPr>
        <p:spPr>
          <a:xfrm>
            <a:off x="3751198" y="2426479"/>
            <a:ext cx="7128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Проект "Получи работу мечты" </a:t>
            </a:r>
            <a:r>
              <a:rPr b="1" lang="en-US" sz="250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(рекомендации по подбору вакансий в IT)</a:t>
            </a:r>
            <a:endParaRPr b="1" sz="2500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7" name="Google Shape;57;g36ce2c842c1_0_0"/>
          <p:cNvSpPr txBox="1"/>
          <p:nvPr/>
        </p:nvSpPr>
        <p:spPr>
          <a:xfrm>
            <a:off x="1382550" y="5833900"/>
            <a:ext cx="6400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Команда:</a:t>
            </a:r>
            <a:endParaRPr b="1" sz="17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Дмитрий Штенников</a:t>
            </a:r>
            <a:endParaRPr sz="17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Александр Трифанов</a:t>
            </a:r>
            <a:endParaRPr sz="17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Любовь Силакова</a:t>
            </a:r>
            <a:endParaRPr sz="17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/>
          <p:nvPr/>
        </p:nvSpPr>
        <p:spPr>
          <a:xfrm>
            <a:off x="6232565" y="865942"/>
            <a:ext cx="7651671" cy="1119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Прогнозирование наиболее привлекательных IT-вакансий</a:t>
            </a:r>
            <a:endParaRPr b="0" i="0" sz="3500" u="none" cap="none" strike="noStrike"/>
          </a:p>
        </p:txBody>
      </p:sp>
      <p:sp>
        <p:nvSpPr>
          <p:cNvPr id="65" name="Google Shape;65;p1"/>
          <p:cNvSpPr/>
          <p:nvPr/>
        </p:nvSpPr>
        <p:spPr>
          <a:xfrm>
            <a:off x="6232565" y="2053352"/>
            <a:ext cx="5051346" cy="279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На основе анализа данных за 2020–2023 гг.</a:t>
            </a:r>
            <a:endParaRPr b="0" i="0" sz="1750" u="none" cap="none" strike="noStrike"/>
          </a:p>
        </p:txBody>
      </p:sp>
      <p:sp>
        <p:nvSpPr>
          <p:cNvPr id="66" name="Google Shape;66;p1"/>
          <p:cNvSpPr/>
          <p:nvPr/>
        </p:nvSpPr>
        <p:spPr>
          <a:xfrm>
            <a:off x="6232565" y="2844641"/>
            <a:ext cx="7651671" cy="1820466"/>
          </a:xfrm>
          <a:prstGeom prst="roundRect">
            <a:avLst>
              <a:gd fmla="val 6027" name="adj"/>
            </a:avLst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2565" y="2821781"/>
            <a:ext cx="7651671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2594" y="2588895"/>
            <a:ext cx="511612" cy="511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6066" y="2742248"/>
            <a:ext cx="204668" cy="2046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/>
          <p:nvPr/>
        </p:nvSpPr>
        <p:spPr>
          <a:xfrm>
            <a:off x="6425922" y="3271004"/>
            <a:ext cx="2238613" cy="279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Цель проекта</a:t>
            </a:r>
            <a:endParaRPr b="0" i="0" sz="1750" u="none" cap="none" strike="noStrike"/>
          </a:p>
        </p:txBody>
      </p:sp>
      <p:sp>
        <p:nvSpPr>
          <p:cNvPr id="71" name="Google Shape;71;p1"/>
          <p:cNvSpPr/>
          <p:nvPr/>
        </p:nvSpPr>
        <p:spPr>
          <a:xfrm>
            <a:off x="6425922" y="3653076"/>
            <a:ext cx="7264956" cy="818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None/>
            </a:pPr>
            <a:r>
              <a:rPr b="0" i="0" lang="en-US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Разработка модели прогнозирования для выявления наиболее привлекательных IT-вакансий с учетом ключевых параметров: уровень заработной платы, локация, опыт и размер компании.</a:t>
            </a:r>
            <a:endParaRPr b="0" i="0" u="none" cap="none" strike="noStrike"/>
          </a:p>
        </p:txBody>
      </p:sp>
      <p:sp>
        <p:nvSpPr>
          <p:cNvPr id="72" name="Google Shape;72;p1"/>
          <p:cNvSpPr/>
          <p:nvPr/>
        </p:nvSpPr>
        <p:spPr>
          <a:xfrm>
            <a:off x="6232565" y="5091351"/>
            <a:ext cx="7651671" cy="2272308"/>
          </a:xfrm>
          <a:prstGeom prst="roundRect">
            <a:avLst>
              <a:gd fmla="val 4829" name="adj"/>
            </a:avLst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descr="preencoded.png" id="73" name="Google Shape;7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2565" y="5068491"/>
            <a:ext cx="7651671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2594" y="4835604"/>
            <a:ext cx="511612" cy="511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6066" y="4988957"/>
            <a:ext cx="204668" cy="20466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/>
          <p:nvPr/>
        </p:nvSpPr>
        <p:spPr>
          <a:xfrm>
            <a:off x="6425922" y="5517713"/>
            <a:ext cx="2238613" cy="279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Petrona"/>
              <a:buNone/>
            </a:pPr>
            <a:r>
              <a:rPr b="1" i="0" lang="en-US" sz="18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Основные задачи</a:t>
            </a:r>
            <a:endParaRPr b="0" i="0" sz="185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6425922" y="5899785"/>
            <a:ext cx="7264956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Char char="•"/>
            </a:pPr>
            <a:r>
              <a:rPr b="0" i="0" lang="en-US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Анализ и предобработка датасета (2020–2023 гг.).</a:t>
            </a:r>
            <a:endParaRPr b="0" i="0" u="none" cap="none" strike="noStrike"/>
          </a:p>
        </p:txBody>
      </p:sp>
      <p:sp>
        <p:nvSpPr>
          <p:cNvPr id="78" name="Google Shape;78;p1"/>
          <p:cNvSpPr/>
          <p:nvPr/>
        </p:nvSpPr>
        <p:spPr>
          <a:xfrm>
            <a:off x="6425922" y="6232327"/>
            <a:ext cx="7264956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Char char="•"/>
            </a:pPr>
            <a:r>
              <a:rPr b="0" i="0" lang="en-US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Применение ML/LLM для получения первичных решений.</a:t>
            </a:r>
            <a:endParaRPr b="0" i="0" u="none" cap="none" strike="noStrike"/>
          </a:p>
        </p:txBody>
      </p:sp>
      <p:sp>
        <p:nvSpPr>
          <p:cNvPr id="79" name="Google Shape;79;p1"/>
          <p:cNvSpPr/>
          <p:nvPr/>
        </p:nvSpPr>
        <p:spPr>
          <a:xfrm>
            <a:off x="6425922" y="6564868"/>
            <a:ext cx="7264956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Char char="•"/>
            </a:pPr>
            <a:r>
              <a:rPr b="0" i="0" lang="en-US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Выявление чувствительных параметров и кластеризация данных.</a:t>
            </a:r>
            <a:endParaRPr b="0" i="0" u="none" cap="none" strike="noStrike"/>
          </a:p>
        </p:txBody>
      </p:sp>
      <p:sp>
        <p:nvSpPr>
          <p:cNvPr id="80" name="Google Shape;80;p1"/>
          <p:cNvSpPr/>
          <p:nvPr/>
        </p:nvSpPr>
        <p:spPr>
          <a:xfrm>
            <a:off x="6425922" y="6897410"/>
            <a:ext cx="7264956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Char char="•"/>
            </a:pPr>
            <a:r>
              <a:rPr b="0" i="0" lang="en-US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Формирование итогового, уточненного прогноза.</a:t>
            </a:r>
            <a:endParaRPr b="0" i="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/>
          <p:nvPr/>
        </p:nvSpPr>
        <p:spPr>
          <a:xfrm>
            <a:off x="793075" y="623173"/>
            <a:ext cx="7737515" cy="52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План реализации проекта (Pipeline)</a:t>
            </a:r>
            <a:endParaRPr b="0" i="0" sz="325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793075" y="1460778"/>
            <a:ext cx="13044249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Пятинедельный спринт по разработке и защите модели прогнозирования.</a:t>
            </a:r>
            <a:endParaRPr b="0" i="0" sz="15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793075" y="1892856"/>
            <a:ext cx="634484" cy="1275159"/>
          </a:xfrm>
          <a:prstGeom prst="roundRect">
            <a:avLst>
              <a:gd fmla="val 360026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991314" y="2381726"/>
            <a:ext cx="237887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85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1586151" y="2051447"/>
            <a:ext cx="2304693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Petrona"/>
              <a:buNone/>
            </a:pPr>
            <a:r>
              <a:rPr b="1" i="0" lang="en-US" sz="19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Неделя 1: Подготовка</a:t>
            </a:r>
            <a:endParaRPr b="0" i="0" sz="19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1586151" y="2755702"/>
            <a:ext cx="12251174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1200"/>
              <a:buFont typeface="Inter"/>
              <a:buNone/>
            </a:pPr>
            <a:r>
              <a:rPr b="0" i="0" lang="en-US" sz="1500" u="sng" cap="none" strike="noStrik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Материалы проекта на Диске</a:t>
            </a:r>
            <a:endParaRPr b="0" i="0" sz="1500" u="none" cap="none" strike="noStrike"/>
          </a:p>
        </p:txBody>
      </p:sp>
      <p:sp>
        <p:nvSpPr>
          <p:cNvPr id="92" name="Google Shape;92;p2"/>
          <p:cNvSpPr/>
          <p:nvPr/>
        </p:nvSpPr>
        <p:spPr>
          <a:xfrm>
            <a:off x="793075" y="3326606"/>
            <a:ext cx="634484" cy="951786"/>
          </a:xfrm>
          <a:prstGeom prst="roundRect">
            <a:avLst>
              <a:gd fmla="val 360026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991314" y="3653790"/>
            <a:ext cx="237887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85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1586151" y="3485198"/>
            <a:ext cx="3020139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Petrona"/>
              <a:buNone/>
            </a:pPr>
            <a:r>
              <a:rPr b="1" i="0" lang="en-US" sz="19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Неделя 2: Разведка и Выбор</a:t>
            </a:r>
            <a:endParaRPr b="0" i="0" sz="190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793075" y="4436983"/>
            <a:ext cx="634484" cy="951786"/>
          </a:xfrm>
          <a:prstGeom prst="roundRect">
            <a:avLst>
              <a:gd fmla="val 360026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991314" y="4764167"/>
            <a:ext cx="237887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185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1586151" y="4595574"/>
            <a:ext cx="4104680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Petrona"/>
              <a:buNone/>
            </a:pPr>
            <a:r>
              <a:rPr b="1" i="0" lang="en-US" sz="19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Неделя 3: Обучение и Интерпретация</a:t>
            </a:r>
            <a:endParaRPr b="0" i="0" sz="1900" u="none" cap="none" strike="noStrike"/>
          </a:p>
        </p:txBody>
      </p:sp>
      <p:sp>
        <p:nvSpPr>
          <p:cNvPr id="98" name="Google Shape;98;p2"/>
          <p:cNvSpPr/>
          <p:nvPr/>
        </p:nvSpPr>
        <p:spPr>
          <a:xfrm>
            <a:off x="1586151" y="4950976"/>
            <a:ext cx="12251174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Решение задачи обучения модели МО, визуализация и интерпретация результатов, выявление чувствительных параметров и кластеризация.</a:t>
            </a:r>
            <a:endParaRPr b="0" i="0" sz="150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793075" y="5547360"/>
            <a:ext cx="634484" cy="951786"/>
          </a:xfrm>
          <a:prstGeom prst="roundRect">
            <a:avLst>
              <a:gd fmla="val 360026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991314" y="5874544"/>
            <a:ext cx="237887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1850" u="none" cap="none" strike="noStrike"/>
          </a:p>
        </p:txBody>
      </p:sp>
      <p:sp>
        <p:nvSpPr>
          <p:cNvPr id="101" name="Google Shape;101;p2"/>
          <p:cNvSpPr/>
          <p:nvPr/>
        </p:nvSpPr>
        <p:spPr>
          <a:xfrm>
            <a:off x="1586151" y="5705951"/>
            <a:ext cx="2582108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Petrona"/>
              <a:buNone/>
            </a:pPr>
            <a:r>
              <a:rPr b="1" i="0" lang="en-US" sz="19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Неделя 4: Финализация</a:t>
            </a:r>
            <a:endParaRPr b="0" i="0" sz="1900" u="none" cap="none" strike="noStrike"/>
          </a:p>
        </p:txBody>
      </p:sp>
      <p:sp>
        <p:nvSpPr>
          <p:cNvPr id="102" name="Google Shape;102;p2"/>
          <p:cNvSpPr/>
          <p:nvPr/>
        </p:nvSpPr>
        <p:spPr>
          <a:xfrm>
            <a:off x="1586151" y="6061353"/>
            <a:ext cx="12251174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Корректировки в ML-конвейере, окончательное оформление репозитория с файлом README.MD.</a:t>
            </a:r>
            <a:endParaRPr b="0" i="0" sz="1500" u="none" cap="none" strike="noStrike"/>
          </a:p>
        </p:txBody>
      </p:sp>
      <p:sp>
        <p:nvSpPr>
          <p:cNvPr id="103" name="Google Shape;103;p2"/>
          <p:cNvSpPr/>
          <p:nvPr/>
        </p:nvSpPr>
        <p:spPr>
          <a:xfrm>
            <a:off x="793075" y="6657737"/>
            <a:ext cx="634484" cy="951786"/>
          </a:xfrm>
          <a:prstGeom prst="roundRect">
            <a:avLst>
              <a:gd fmla="val 360026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991314" y="6984921"/>
            <a:ext cx="237887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5</a:t>
            </a:r>
            <a:endParaRPr b="0" i="0" sz="1850" u="none" cap="none" strike="noStrike"/>
          </a:p>
        </p:txBody>
      </p:sp>
      <p:sp>
        <p:nvSpPr>
          <p:cNvPr id="105" name="Google Shape;105;p2"/>
          <p:cNvSpPr/>
          <p:nvPr/>
        </p:nvSpPr>
        <p:spPr>
          <a:xfrm>
            <a:off x="1586151" y="6816328"/>
            <a:ext cx="2082046" cy="26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Petrona"/>
              <a:buNone/>
            </a:pPr>
            <a:r>
              <a:rPr b="1" i="0" lang="en-US" sz="19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Неделя 5: Защита</a:t>
            </a:r>
            <a:endParaRPr b="0" i="0" sz="1900" u="none" cap="none" strike="noStrike"/>
          </a:p>
        </p:txBody>
      </p:sp>
      <p:sp>
        <p:nvSpPr>
          <p:cNvPr id="106" name="Google Shape;106;p2"/>
          <p:cNvSpPr/>
          <p:nvPr/>
        </p:nvSpPr>
        <p:spPr>
          <a:xfrm>
            <a:off x="1586151" y="7171730"/>
            <a:ext cx="12251174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Подготовка презентации и успешная защита проекта перед аудиторией.</a:t>
            </a:r>
            <a:endParaRPr b="0" i="0" sz="1500" u="none" cap="none" strike="noStrike"/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159" y="3799227"/>
            <a:ext cx="19240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1586176" y="3853299"/>
            <a:ext cx="12251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Разведочный анализ данных, постановка задачи, выбор модели/архитектуры/алгоритма МО, очистка данных.</a:t>
            </a:r>
            <a:endParaRPr b="0" i="0" sz="1500" u="none" cap="none" strike="noStrike"/>
          </a:p>
        </p:txBody>
      </p:sp>
      <p:pic>
        <p:nvPicPr>
          <p:cNvPr id="109" name="Google Shape;10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159" y="2352740"/>
            <a:ext cx="19240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86151" y="2406848"/>
            <a:ext cx="12251174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Встреча команд, определение темы и датасета, создание репозитория (подготовка данных).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724733" y="569357"/>
            <a:ext cx="9212699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850"/>
              <a:buFont typeface="Petrona"/>
              <a:buNone/>
            </a:pPr>
            <a:r>
              <a:rPr b="1" i="0" lang="en-US" sz="38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Источники данных и Рабочая среда</a:t>
            </a:r>
            <a:endParaRPr b="0" i="0" sz="3850" u="none" cap="none" strike="noStrike"/>
          </a:p>
        </p:txBody>
      </p:sp>
      <p:sp>
        <p:nvSpPr>
          <p:cNvPr id="117" name="Google Shape;117;p3"/>
          <p:cNvSpPr/>
          <p:nvPr/>
        </p:nvSpPr>
        <p:spPr>
          <a:xfrm>
            <a:off x="724733" y="1646634"/>
            <a:ext cx="7044928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29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050"/>
              <a:buFont typeface="Petrona"/>
              <a:buNone/>
            </a:pPr>
            <a:r>
              <a:rPr b="1" i="0" lang="en-US" sz="30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Очищенный Датасет (2020-2023 гг.)</a:t>
            </a:r>
            <a:endParaRPr b="0" i="0" sz="3050" u="none" cap="none" strike="noStrike"/>
          </a:p>
        </p:txBody>
      </p:sp>
      <p:sp>
        <p:nvSpPr>
          <p:cNvPr id="118" name="Google Shape;118;p3"/>
          <p:cNvSpPr/>
          <p:nvPr/>
        </p:nvSpPr>
        <p:spPr>
          <a:xfrm>
            <a:off x="724733" y="2811185"/>
            <a:ext cx="7044928" cy="29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1450"/>
              <a:buFont typeface="Inter"/>
              <a:buNone/>
            </a:pPr>
            <a:r>
              <a:rPr b="0" i="0" lang="en-US" sz="1550" u="sng" cap="none" strike="noStrik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Датасет</a:t>
            </a:r>
            <a:endParaRPr b="0" i="0" sz="1550" u="none" cap="none" strike="noStrike"/>
          </a:p>
        </p:txBody>
      </p:sp>
      <p:sp>
        <p:nvSpPr>
          <p:cNvPr id="119" name="Google Shape;119;p3"/>
          <p:cNvSpPr/>
          <p:nvPr/>
        </p:nvSpPr>
        <p:spPr>
          <a:xfrm>
            <a:off x="724733" y="3276957"/>
            <a:ext cx="7044928" cy="596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Использован для обучения модели и прогнозирования уровня заработной платы на основе различных параметров.</a:t>
            </a:r>
            <a:endParaRPr b="0" i="0" sz="1550" u="none" cap="none" strike="noStrike"/>
          </a:p>
        </p:txBody>
      </p:sp>
      <p:sp>
        <p:nvSpPr>
          <p:cNvPr id="120" name="Google Shape;120;p3"/>
          <p:cNvSpPr/>
          <p:nvPr/>
        </p:nvSpPr>
        <p:spPr>
          <a:xfrm>
            <a:off x="724733" y="4040862"/>
            <a:ext cx="7044928" cy="29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b="1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Прогнозируемый параметр:</a:t>
            </a: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Уровень З/П.</a:t>
            </a:r>
            <a:endParaRPr b="0" i="0" sz="1550" u="none" cap="none" strike="noStrike"/>
          </a:p>
        </p:txBody>
      </p:sp>
      <p:sp>
        <p:nvSpPr>
          <p:cNvPr id="121" name="Google Shape;121;p3"/>
          <p:cNvSpPr/>
          <p:nvPr/>
        </p:nvSpPr>
        <p:spPr>
          <a:xfrm>
            <a:off x="724733" y="4404122"/>
            <a:ext cx="7044928" cy="894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b="1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Входные параметры:</a:t>
            </a: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Размер компании (S, M, L), Опыт (Middle, Senior, En), Локация компании, Позиция/должность (Principal Data Scientist, Data Scientist, ML Engineer, Data Analyst и др.).</a:t>
            </a:r>
            <a:endParaRPr b="0" i="0" sz="1550" u="none" cap="none" strike="noStrike"/>
          </a:p>
        </p:txBody>
      </p:sp>
      <p:sp>
        <p:nvSpPr>
          <p:cNvPr id="122" name="Google Shape;122;p3"/>
          <p:cNvSpPr/>
          <p:nvPr/>
        </p:nvSpPr>
        <p:spPr>
          <a:xfrm>
            <a:off x="724733" y="5508069"/>
            <a:ext cx="7044928" cy="1257538"/>
          </a:xfrm>
          <a:prstGeom prst="roundRect">
            <a:avLst>
              <a:gd fmla="val 6225" name="adj"/>
            </a:avLst>
          </a:prstGeom>
          <a:solidFill>
            <a:srgbClr val="1C1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descr="preencoded.png"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066" y="5791200"/>
            <a:ext cx="232886" cy="18633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1330285" y="5740956"/>
            <a:ext cx="6253043" cy="29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Рабочая среда: </a:t>
            </a:r>
            <a:r>
              <a:rPr b="1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Colab</a:t>
            </a: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b="1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Mistral</a:t>
            </a: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(для интеграции LLM-анализа).</a:t>
            </a:r>
            <a:endParaRPr b="0" i="0" sz="1550" u="none" cap="none" strike="noStrike"/>
          </a:p>
        </p:txBody>
      </p:sp>
      <p:sp>
        <p:nvSpPr>
          <p:cNvPr id="125" name="Google Shape;125;p3"/>
          <p:cNvSpPr/>
          <p:nvPr/>
        </p:nvSpPr>
        <p:spPr>
          <a:xfrm>
            <a:off x="1330285" y="6206728"/>
            <a:ext cx="6253043" cy="29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1450"/>
              <a:buFont typeface="Inter"/>
              <a:buNone/>
            </a:pPr>
            <a:r>
              <a:rPr b="0" i="0" lang="en-US" sz="1550" u="sng" cap="none" strike="noStrik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Ссылка на рабочую модель в Colab</a:t>
            </a:r>
            <a:endParaRPr b="0" i="0" sz="1550" u="none" cap="none" strike="noStrike"/>
          </a:p>
        </p:txBody>
      </p:sp>
      <p:pic>
        <p:nvPicPr>
          <p:cNvPr descr="preencoded.png"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1862" y="1669852"/>
            <a:ext cx="4729043" cy="594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793803" y="506925"/>
            <a:ext cx="96933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Ключевая характеристика датасета</a:t>
            </a:r>
            <a:endParaRPr b="0" i="0" sz="3750" u="none" cap="none" strike="noStrike"/>
          </a:p>
        </p:txBody>
      </p:sp>
      <p:sp>
        <p:nvSpPr>
          <p:cNvPr id="133" name="Google Shape;133;p4"/>
          <p:cNvSpPr/>
          <p:nvPr/>
        </p:nvSpPr>
        <p:spPr>
          <a:xfrm>
            <a:off x="650500" y="1811900"/>
            <a:ext cx="46776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Данные отражают динамику рынка IT-вакансий, демонстрируя концентрацию предложений в определенных сегментах опыта, размера компаний и временного периода.</a:t>
            </a:r>
            <a:endParaRPr b="0" i="0" sz="150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507199" y="3727075"/>
            <a:ext cx="2184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337"/>
              <a:buFont typeface="Petrona"/>
              <a:buNone/>
            </a:pPr>
            <a:r>
              <a:rPr b="1" i="0" lang="en-US" sz="4337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17K</a:t>
            </a:r>
            <a:endParaRPr b="0" i="0" sz="4337" u="none" cap="none" strike="noStrike"/>
          </a:p>
        </p:txBody>
      </p:sp>
      <p:sp>
        <p:nvSpPr>
          <p:cNvPr id="135" name="Google Shape;135;p4"/>
          <p:cNvSpPr/>
          <p:nvPr/>
        </p:nvSpPr>
        <p:spPr>
          <a:xfrm>
            <a:off x="507199" y="4488960"/>
            <a:ext cx="21849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92"/>
              <a:buFont typeface="Inter"/>
              <a:buNone/>
            </a:pPr>
            <a:r>
              <a:rPr b="0" i="0" lang="en-US" sz="1291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Максимальное предложение по З/П (USD) в среднем сегменте.</a:t>
            </a:r>
            <a:endParaRPr b="0" i="0" sz="1291" u="none" cap="none" strike="noStrike"/>
          </a:p>
        </p:txBody>
      </p:sp>
      <p:sp>
        <p:nvSpPr>
          <p:cNvPr id="136" name="Google Shape;136;p4"/>
          <p:cNvSpPr/>
          <p:nvPr/>
        </p:nvSpPr>
        <p:spPr>
          <a:xfrm>
            <a:off x="2901408" y="3727075"/>
            <a:ext cx="2184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337"/>
              <a:buFont typeface="Petrona"/>
              <a:buNone/>
            </a:pPr>
            <a:r>
              <a:rPr b="1" i="0" lang="en-US" sz="4337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2500</a:t>
            </a:r>
            <a:endParaRPr b="0" i="0" sz="4337" u="none" cap="none" strike="noStrike"/>
          </a:p>
        </p:txBody>
      </p:sp>
      <p:sp>
        <p:nvSpPr>
          <p:cNvPr id="137" name="Google Shape;137;p4"/>
          <p:cNvSpPr/>
          <p:nvPr/>
        </p:nvSpPr>
        <p:spPr>
          <a:xfrm>
            <a:off x="2901408" y="4488960"/>
            <a:ext cx="21849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92"/>
              <a:buFont typeface="Inter"/>
              <a:buNone/>
            </a:pPr>
            <a:r>
              <a:rPr b="0" i="0" lang="en-US" sz="1291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Количество вакансий для Senior-специалистов – самая большая доля.</a:t>
            </a:r>
            <a:endParaRPr b="0" i="0" sz="1291" u="none" cap="none" strike="noStrike"/>
          </a:p>
        </p:txBody>
      </p:sp>
      <p:sp>
        <p:nvSpPr>
          <p:cNvPr id="138" name="Google Shape;138;p4"/>
          <p:cNvSpPr/>
          <p:nvPr/>
        </p:nvSpPr>
        <p:spPr>
          <a:xfrm>
            <a:off x="507191" y="5979100"/>
            <a:ext cx="2184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337"/>
              <a:buFont typeface="Petrona"/>
              <a:buNone/>
            </a:pPr>
            <a:r>
              <a:rPr b="1" i="0" lang="en-US" sz="4337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3100</a:t>
            </a:r>
            <a:endParaRPr b="0" i="0" sz="4337" u="none" cap="none" strike="noStrike"/>
          </a:p>
        </p:txBody>
      </p:sp>
      <p:sp>
        <p:nvSpPr>
          <p:cNvPr id="139" name="Google Shape;139;p4"/>
          <p:cNvSpPr/>
          <p:nvPr/>
        </p:nvSpPr>
        <p:spPr>
          <a:xfrm>
            <a:off x="507191" y="6740985"/>
            <a:ext cx="21849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92"/>
              <a:buFont typeface="Inter"/>
              <a:buNone/>
            </a:pPr>
            <a:r>
              <a:rPr b="0" i="0" lang="en-US" sz="1291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Вакансии в компаниях среднего размера (M) доминируют.</a:t>
            </a:r>
            <a:endParaRPr b="0" i="0" sz="1291" u="none" cap="none" strike="noStrike"/>
          </a:p>
        </p:txBody>
      </p:sp>
      <p:sp>
        <p:nvSpPr>
          <p:cNvPr id="140" name="Google Shape;140;p4"/>
          <p:cNvSpPr/>
          <p:nvPr/>
        </p:nvSpPr>
        <p:spPr>
          <a:xfrm>
            <a:off x="2901408" y="5979106"/>
            <a:ext cx="2184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337"/>
              <a:buFont typeface="Petrona"/>
              <a:buNone/>
            </a:pPr>
            <a:r>
              <a:rPr b="1" i="0" lang="en-US" sz="4337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3400</a:t>
            </a:r>
            <a:endParaRPr b="0" i="0" sz="4337" u="none" cap="none" strike="noStrike"/>
          </a:p>
        </p:txBody>
      </p:sp>
      <p:sp>
        <p:nvSpPr>
          <p:cNvPr id="141" name="Google Shape;141;p4"/>
          <p:cNvSpPr/>
          <p:nvPr/>
        </p:nvSpPr>
        <p:spPr>
          <a:xfrm>
            <a:off x="2901408" y="6740992"/>
            <a:ext cx="21849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92"/>
              <a:buFont typeface="Inter"/>
              <a:buNone/>
            </a:pPr>
            <a:r>
              <a:rPr b="0" i="0" lang="en-US" sz="1291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Основной объем данных (2022–2023 гг.) для обучения модели.</a:t>
            </a:r>
            <a:endParaRPr b="0" i="0" sz="1291" u="none" cap="none" strike="noStrike"/>
          </a:p>
        </p:txBody>
      </p:sp>
      <p:pic>
        <p:nvPicPr>
          <p:cNvPr id="142" name="Google Shape;14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0575" y="1519768"/>
            <a:ext cx="9077002" cy="6024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78975"/>
            <a:ext cx="14630401" cy="226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793790" y="1693511"/>
            <a:ext cx="12770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Этапы обработки и обучения модели Random Forest</a:t>
            </a:r>
            <a:endParaRPr b="0" i="0" sz="3750" u="none" cap="none" strike="noStrike"/>
          </a:p>
        </p:txBody>
      </p:sp>
      <p:sp>
        <p:nvSpPr>
          <p:cNvPr id="150" name="Google Shape;150;p5"/>
          <p:cNvSpPr/>
          <p:nvPr/>
        </p:nvSpPr>
        <p:spPr>
          <a:xfrm>
            <a:off x="793790" y="2393219"/>
            <a:ext cx="130428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Для достижения высокой точности прогнозирования был выбран алгоритм </a:t>
            </a:r>
            <a:r>
              <a:rPr b="1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Random Forest Regressor</a:t>
            </a: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0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793790" y="3015893"/>
            <a:ext cx="3534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250"/>
              <a:buFont typeface="Petrona"/>
              <a:buNone/>
            </a:pPr>
            <a:r>
              <a:rPr b="1" i="0" lang="en-US" sz="23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Предобработка данных</a:t>
            </a:r>
            <a:endParaRPr b="0" i="0" sz="2350" u="none" cap="none" strike="noStrike"/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725" y="3590675"/>
            <a:ext cx="7657384" cy="20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630015" y="5884555"/>
            <a:ext cx="63000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Категориальные признаки преобразованы для машинного обучения.</a:t>
            </a:r>
            <a:endParaRPr b="0" i="0" sz="1500" u="none" cap="none" strike="noStrike"/>
          </a:p>
        </p:txBody>
      </p:sp>
      <p:sp>
        <p:nvSpPr>
          <p:cNvPr id="154" name="Google Shape;154;p5"/>
          <p:cNvSpPr/>
          <p:nvPr/>
        </p:nvSpPr>
        <p:spPr>
          <a:xfrm>
            <a:off x="630015" y="6528564"/>
            <a:ext cx="6300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Нормализация числовых данных (при необходимости).</a:t>
            </a:r>
            <a:endParaRPr b="0" i="0" sz="1500" u="none" cap="none" strike="noStrike"/>
          </a:p>
        </p:txBody>
      </p:sp>
      <p:sp>
        <p:nvSpPr>
          <p:cNvPr id="155" name="Google Shape;155;p5"/>
          <p:cNvSpPr/>
          <p:nvPr/>
        </p:nvSpPr>
        <p:spPr>
          <a:xfrm>
            <a:off x="10051357" y="3793881"/>
            <a:ext cx="2858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250"/>
              <a:buFont typeface="Petrona"/>
              <a:buNone/>
            </a:pPr>
            <a:r>
              <a:rPr b="1" i="0" lang="en-US" sz="23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Обучение модели</a:t>
            </a:r>
            <a:endParaRPr b="0" i="0" sz="2350" u="none" cap="none" strike="noStrike"/>
          </a:p>
        </p:txBody>
      </p:sp>
      <p:sp>
        <p:nvSpPr>
          <p:cNvPr id="156" name="Google Shape;156;p5"/>
          <p:cNvSpPr/>
          <p:nvPr/>
        </p:nvSpPr>
        <p:spPr>
          <a:xfrm>
            <a:off x="8241225" y="4497725"/>
            <a:ext cx="6389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Модель обучена для регрессии уровня заработной платы.</a:t>
            </a:r>
            <a:endParaRPr b="0" i="0" sz="1500" u="none" cap="none" strike="noStrike"/>
          </a:p>
        </p:txBody>
      </p:sp>
      <p:sp>
        <p:nvSpPr>
          <p:cNvPr id="157" name="Google Shape;157;p5"/>
          <p:cNvSpPr/>
          <p:nvPr/>
        </p:nvSpPr>
        <p:spPr>
          <a:xfrm>
            <a:off x="8241225" y="4851459"/>
            <a:ext cx="6389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Оценка точности на тестовом наборе данных.</a:t>
            </a:r>
            <a:endParaRPr b="0" i="0" sz="1500" u="none" cap="none" strike="noStrike"/>
          </a:p>
        </p:txBody>
      </p:sp>
      <p:pic>
        <p:nvPicPr>
          <p:cNvPr id="158" name="Google Shape;15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6616" y="5599806"/>
            <a:ext cx="6389174" cy="21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8241225" y="5175626"/>
            <a:ext cx="6389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Из 4х признаков значимая связь с ЗП выявлена только у опыта</a:t>
            </a:r>
            <a:endParaRPr b="0" i="0" sz="1500" u="none" cap="none" strike="noStrike"/>
          </a:p>
        </p:txBody>
      </p:sp>
      <p:sp>
        <p:nvSpPr>
          <p:cNvPr id="160" name="Google Shape;160;p5"/>
          <p:cNvSpPr/>
          <p:nvPr/>
        </p:nvSpPr>
        <p:spPr>
          <a:xfrm>
            <a:off x="6986425" y="6863585"/>
            <a:ext cx="1699200" cy="47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8F8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716994" y="565190"/>
            <a:ext cx="7299722" cy="436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750"/>
              <a:buFont typeface="Petrona"/>
              <a:buNone/>
            </a:pPr>
            <a:r>
              <a:rPr b="1" i="0" lang="en-US" sz="27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Функция предсказания и тестирование</a:t>
            </a:r>
            <a:endParaRPr b="0" i="0" sz="2750" u="none" cap="none" strike="noStrike"/>
          </a:p>
        </p:txBody>
      </p:sp>
      <p:sp>
        <p:nvSpPr>
          <p:cNvPr id="167" name="Google Shape;167;p6"/>
          <p:cNvSpPr/>
          <p:nvPr/>
        </p:nvSpPr>
        <p:spPr>
          <a:xfrm>
            <a:off x="716994" y="1268373"/>
            <a:ext cx="13196411" cy="21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Разработана функция, позволяющая быстро получать прогноз заработной платы на основе введенных параметров.</a:t>
            </a:r>
            <a:endParaRPr b="0" i="0" sz="1000" u="none" cap="none" strike="noStrike"/>
          </a:p>
        </p:txBody>
      </p:sp>
      <p:sp>
        <p:nvSpPr>
          <p:cNvPr id="168" name="Google Shape;168;p6"/>
          <p:cNvSpPr/>
          <p:nvPr/>
        </p:nvSpPr>
        <p:spPr>
          <a:xfrm>
            <a:off x="916662" y="1830705"/>
            <a:ext cx="4405193" cy="26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650"/>
              <a:buFont typeface="Petrona"/>
              <a:buNone/>
            </a:pPr>
            <a:r>
              <a:rPr b="1" i="0" lang="en-US" sz="16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Построение функции для предсказания</a:t>
            </a:r>
            <a:endParaRPr b="0" i="0" sz="1650" u="none" cap="none" strike="noStrike"/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662" y="2292548"/>
            <a:ext cx="6042422" cy="175795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716994" y="1631037"/>
            <a:ext cx="15240" cy="2569250"/>
          </a:xfrm>
          <a:prstGeom prst="rect">
            <a:avLst/>
          </a:prstGeom>
          <a:solidFill>
            <a:srgbClr val="876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916662" y="4549735"/>
            <a:ext cx="2456974" cy="26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650"/>
              <a:buFont typeface="Petrona"/>
              <a:buNone/>
            </a:pPr>
            <a:r>
              <a:rPr b="1" i="0" lang="en-US" sz="16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Тестирование модели</a:t>
            </a:r>
            <a:endParaRPr b="0" i="0" sz="1650" u="none" cap="none" strike="noStrike"/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662" y="5011579"/>
            <a:ext cx="7765256" cy="21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716994" y="4350068"/>
            <a:ext cx="15240" cy="2951559"/>
          </a:xfrm>
          <a:prstGeom prst="rect">
            <a:avLst/>
          </a:prstGeom>
          <a:solidFill>
            <a:srgbClr val="876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9258775" y="3684225"/>
            <a:ext cx="5008800" cy="19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Тестирование подтвердило работоспособность модели, однако последующая проверка через естественный интеллект (анализ рынка) выявила необходимость </a:t>
            </a:r>
            <a:r>
              <a:rPr b="0" i="0" lang="en-US" sz="16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корректировки</a:t>
            </a:r>
            <a:r>
              <a:rPr b="0" i="0" lang="en-US" sz="16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интерпретации.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7605024" y="417125"/>
            <a:ext cx="66663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Интеграция с </a:t>
            </a:r>
            <a:r>
              <a:rPr b="1" lang="en-US" sz="37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БЯМ</a:t>
            </a:r>
            <a:r>
              <a:rPr b="1" i="0" lang="en-US" sz="37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 (Mistral)</a:t>
            </a:r>
            <a:endParaRPr b="0" i="0" sz="375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7503625" y="1945609"/>
            <a:ext cx="68691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Для получения дополнительной аналитической перспективы и уточнения результатов прогноза использовалась LLM Mistral. Это позволило сравнить результаты МО с рыночными тенденциями, описанными ИИ.</a:t>
            </a:r>
            <a:endParaRPr b="0" i="0" sz="170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1718500" y="417125"/>
            <a:ext cx="27795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Промпт для Mistral</a:t>
            </a:r>
            <a:endParaRPr b="0" i="0" sz="2250" u="none" cap="none" strike="noStrike"/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01825"/>
            <a:ext cx="6869024" cy="2948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064548"/>
            <a:ext cx="6869024" cy="38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6971383" y="5182249"/>
            <a:ext cx="7556400" cy="1809600"/>
          </a:xfrm>
          <a:prstGeom prst="roundRect">
            <a:avLst>
              <a:gd fmla="val 7181" name="adj"/>
            </a:avLst>
          </a:prstGeom>
          <a:solidFill>
            <a:srgbClr val="1C1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777" y="5568566"/>
            <a:ext cx="226814" cy="30938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7561099" y="5592212"/>
            <a:ext cx="6785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Гибридный подход (МО + LLM) повышает надежность выводов, сочетая математическую точность и контекстуальную рыночную информацию.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736521" y="579596"/>
            <a:ext cx="13157359" cy="1312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4100"/>
              <a:buFont typeface="Petrona"/>
              <a:buNone/>
            </a:pPr>
            <a:r>
              <a:rPr b="1" i="0" lang="en-US" sz="41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Анализ результатов предсказания и корректировка</a:t>
            </a:r>
            <a:endParaRPr b="0" i="0" sz="410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736496" y="1978865"/>
            <a:ext cx="131574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Прогноз модели (например, $86K для Senior) оказался ниже рыночных ожиданий ($130K–$170K), что указывает на недоучет специфики высокооплачиваемых IT-рынков (США).</a:t>
            </a:r>
            <a:endParaRPr b="0" i="0" sz="175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736521" y="2910330"/>
            <a:ext cx="13157400" cy="3949200"/>
          </a:xfrm>
          <a:prstGeom prst="roundRect">
            <a:avLst>
              <a:gd fmla="val 2126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44141" y="2917950"/>
            <a:ext cx="6571200" cy="2127000"/>
          </a:xfrm>
          <a:prstGeom prst="roundRect">
            <a:avLst>
              <a:gd fmla="val 3948" name="adj"/>
            </a:avLst>
          </a:prstGeom>
          <a:solidFill>
            <a:srgbClr val="2F1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944047" y="3117856"/>
            <a:ext cx="2927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Опыт (Senior Engineer)</a:t>
            </a:r>
            <a:endParaRPr b="0" i="0" sz="205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944047" y="3565769"/>
            <a:ext cx="61713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Модель предсказала $86K. Фактический диапазон для 5+ лет опыта в США: $130K–$170K. Расхождение обусловлено отсутствием детализации локальных коэффициентов в данных.</a:t>
            </a:r>
            <a:endParaRPr b="0" i="0" sz="1550" u="none" cap="none" strike="noStrike"/>
          </a:p>
        </p:txBody>
      </p:sp>
      <p:sp>
        <p:nvSpPr>
          <p:cNvPr id="200" name="Google Shape;200;p8"/>
          <p:cNvSpPr/>
          <p:nvPr/>
        </p:nvSpPr>
        <p:spPr>
          <a:xfrm>
            <a:off x="7315200" y="2917950"/>
            <a:ext cx="6571200" cy="2127000"/>
          </a:xfrm>
          <a:prstGeom prst="rect">
            <a:avLst/>
          </a:prstGeom>
          <a:solidFill>
            <a:srgbClr val="2F1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315200" y="2917950"/>
            <a:ext cx="22800" cy="2127000"/>
          </a:xfrm>
          <a:prstGeom prst="roundRect">
            <a:avLst>
              <a:gd fmla="val 367336" name="adj"/>
            </a:avLst>
          </a:prstGeom>
          <a:solidFill>
            <a:srgbClr val="4836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515106" y="3117856"/>
            <a:ext cx="2887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Размер компании (L)</a:t>
            </a:r>
            <a:endParaRPr b="0" i="0" sz="2050" u="none" cap="none" strike="noStrike"/>
          </a:p>
        </p:txBody>
      </p:sp>
      <p:sp>
        <p:nvSpPr>
          <p:cNvPr id="203" name="Google Shape;203;p8"/>
          <p:cNvSpPr/>
          <p:nvPr/>
        </p:nvSpPr>
        <p:spPr>
          <a:xfrm>
            <a:off x="7515106" y="3565769"/>
            <a:ext cx="61713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Крупные корпорации (Big Tech) предлагают на 20–30% больше, чем средний рынок. Диапазон: $150K–$200K для Senior DS в ведущих компаниях.</a:t>
            </a:r>
            <a:endParaRPr b="0" i="0" sz="1550" u="none" cap="none" strike="noStrike"/>
          </a:p>
        </p:txBody>
      </p:sp>
      <p:sp>
        <p:nvSpPr>
          <p:cNvPr id="204" name="Google Shape;204;p8"/>
          <p:cNvSpPr/>
          <p:nvPr/>
        </p:nvSpPr>
        <p:spPr>
          <a:xfrm>
            <a:off x="744141" y="5044882"/>
            <a:ext cx="6571200" cy="1807200"/>
          </a:xfrm>
          <a:prstGeom prst="rect">
            <a:avLst/>
          </a:prstGeom>
          <a:solidFill>
            <a:srgbClr val="2F1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44141" y="5044882"/>
            <a:ext cx="6571200" cy="22800"/>
          </a:xfrm>
          <a:prstGeom prst="roundRect">
            <a:avLst>
              <a:gd fmla="val 367336" name="adj"/>
            </a:avLst>
          </a:prstGeom>
          <a:solidFill>
            <a:srgbClr val="4836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944047" y="5244788"/>
            <a:ext cx="2624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Удалённость (75%)</a:t>
            </a:r>
            <a:endParaRPr b="0" i="0" sz="205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944047" y="5692701"/>
            <a:ext cx="61713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Гибридный формат в США слабо влияет на З/П, но важен штат проживания (Калифорния vs. Техас). Зарплата остается близкой к офлайн-стандартам.</a:t>
            </a:r>
            <a:endParaRPr b="0" i="0" sz="155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7315200" y="5044882"/>
            <a:ext cx="6571200" cy="1807200"/>
          </a:xfrm>
          <a:prstGeom prst="rect">
            <a:avLst/>
          </a:prstGeom>
          <a:solidFill>
            <a:srgbClr val="2F1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315200" y="5044882"/>
            <a:ext cx="22800" cy="1807200"/>
          </a:xfrm>
          <a:prstGeom prst="roundRect">
            <a:avLst>
              <a:gd fmla="val 367336" name="adj"/>
            </a:avLst>
          </a:prstGeom>
          <a:solidFill>
            <a:srgbClr val="4836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315200" y="5044882"/>
            <a:ext cx="6571200" cy="22800"/>
          </a:xfrm>
          <a:prstGeom prst="roundRect">
            <a:avLst>
              <a:gd fmla="val 367336" name="adj"/>
            </a:avLst>
          </a:prstGeom>
          <a:solidFill>
            <a:srgbClr val="4836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515106" y="5244788"/>
            <a:ext cx="2624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Локация (США)</a:t>
            </a:r>
            <a:endParaRPr b="0" i="0" sz="2050" u="none" cap="none" strike="noStrike"/>
          </a:p>
        </p:txBody>
      </p:sp>
      <p:sp>
        <p:nvSpPr>
          <p:cNvPr id="212" name="Google Shape;212;p8"/>
          <p:cNvSpPr/>
          <p:nvPr/>
        </p:nvSpPr>
        <p:spPr>
          <a:xfrm>
            <a:off x="7515106" y="5692701"/>
            <a:ext cx="61713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Высокооплачиваемые хабы (SF, NYC): $140K–$180K. Низкооплачиваемые штаты: $100K–$130K. </a:t>
            </a:r>
            <a:r>
              <a:rPr b="1" i="0" lang="en-US" sz="15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Модель требует учета географического разброса.</a:t>
            </a:r>
            <a:endParaRPr b="0" i="0" sz="1550" u="none" cap="none" strike="noStrike"/>
          </a:p>
        </p:txBody>
      </p:sp>
      <p:sp>
        <p:nvSpPr>
          <p:cNvPr id="213" name="Google Shape;213;p8"/>
          <p:cNvSpPr/>
          <p:nvPr/>
        </p:nvSpPr>
        <p:spPr>
          <a:xfrm>
            <a:off x="747925" y="7151375"/>
            <a:ext cx="135264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Дополнительные факторы: Индустрия (технологии/финтех +20–30% к среднему) также критичны для точного прогноза.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755250" y="429751"/>
            <a:ext cx="13119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4000"/>
              <a:buFont typeface="Petrona"/>
              <a:buNone/>
            </a:pPr>
            <a:r>
              <a:rPr b="1" i="0" lang="en-US" sz="40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Гибкость модели: Применение к различным сценариям</a:t>
            </a:r>
            <a:endParaRPr b="0" i="0" sz="400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755408" y="1455078"/>
            <a:ext cx="13119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Разработанная модель регрессии пригодна для оценки привлекательности вакансий по ряду параметров и позволяет проводить сценарный анализ.</a:t>
            </a:r>
            <a:endParaRPr b="0" i="0" sz="1700" u="none" cap="none" strike="noStrike"/>
          </a:p>
        </p:txBody>
      </p:sp>
      <p:pic>
        <p:nvPicPr>
          <p:cNvPr descr="preencoded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58" y="2421385"/>
            <a:ext cx="10368200" cy="898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950" y="3616987"/>
            <a:ext cx="5684407" cy="305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/>
          <p:nvPr/>
        </p:nvSpPr>
        <p:spPr>
          <a:xfrm>
            <a:off x="755333" y="7118116"/>
            <a:ext cx="13119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Модель может использоваться для: сравнения зарплатных ожиданий на разных должностях (Data Analyst vs. ML Engineer), оценки влияния опыта на доход, и определения наиболее выгодных локаций (с учетом поправки на рыночные коэффициенты).</a:t>
            </a:r>
            <a:endParaRPr b="0" i="0" sz="1600" u="none" cap="none" strike="noStrike"/>
          </a:p>
        </p:txBody>
      </p:sp>
      <p:pic>
        <p:nvPicPr>
          <p:cNvPr id="224" name="Google Shape;224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2023" y="1897650"/>
            <a:ext cx="6993129" cy="51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786527" y="780336"/>
            <a:ext cx="58995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4600"/>
              <a:buFont typeface="Petrona"/>
              <a:buNone/>
            </a:pPr>
            <a:r>
              <a:rPr b="1" lang="en-US" sz="46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Команда</a:t>
            </a:r>
            <a:endParaRPr b="0" i="0" sz="46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786527" y="1967151"/>
            <a:ext cx="13057346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Проект реализован междисциплинарной командой специалистов.</a:t>
            </a:r>
            <a:endParaRPr b="0" i="0" sz="1750" u="none" cap="none" strike="noStrike"/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527" y="2579489"/>
            <a:ext cx="3053596" cy="305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786525" y="5857752"/>
            <a:ext cx="30537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Дмитрий Штенников</a:t>
            </a:r>
            <a:endParaRPr b="0" i="0" sz="2300" u="none" cap="none" strike="noStrike"/>
          </a:p>
        </p:txBody>
      </p:sp>
      <p:sp>
        <p:nvSpPr>
          <p:cNvPr id="234" name="Google Shape;234;p10"/>
          <p:cNvSpPr/>
          <p:nvPr/>
        </p:nvSpPr>
        <p:spPr>
          <a:xfrm>
            <a:off x="786552" y="6361333"/>
            <a:ext cx="30537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к.т.н., доцент (ФПИиКТ)</a:t>
            </a:r>
            <a:endParaRPr b="0" i="0" sz="1750" u="none" cap="none" strike="noStrike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Капитан, Data-engineer</a:t>
            </a:r>
            <a:endParaRPr b="0" i="0" sz="1750" u="none" cap="none" strike="noStrike"/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0991" y="2579489"/>
            <a:ext cx="3053715" cy="305371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4121000" y="5857875"/>
            <a:ext cx="30537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Александр Трифанов</a:t>
            </a:r>
            <a:endParaRPr b="0" i="0" sz="23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4121016" y="6361452"/>
            <a:ext cx="30537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к.ф-м.н., доцент (ИТиП)</a:t>
            </a:r>
            <a:endParaRPr b="0" i="0" sz="1750" u="none" cap="none" strike="noStrike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Data-scientist, тестировщик</a:t>
            </a:r>
            <a:endParaRPr b="0" i="0" sz="1750" u="none" cap="none" strike="noStrike"/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5575" y="2579489"/>
            <a:ext cx="3053715" cy="305371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7455575" y="5857875"/>
            <a:ext cx="2949773" cy="368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Любовь Силакова</a:t>
            </a:r>
            <a:endParaRPr b="0" i="0" sz="230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7455575" y="6361390"/>
            <a:ext cx="3053715" cy="1078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к.э.н., доцент (ФТМИ)</a:t>
            </a:r>
            <a:endParaRPr b="0" i="0" sz="1750" u="none" cap="none" strike="noStrike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Product-owner, тестировщик</a:t>
            </a:r>
            <a:endParaRPr b="0" i="0" sz="1750" u="none" cap="none" strike="noStrike"/>
          </a:p>
        </p:txBody>
      </p:sp>
      <p:pic>
        <p:nvPicPr>
          <p:cNvPr descr="preencoded.png" id="241" name="Google Shape;24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90158" y="2579489"/>
            <a:ext cx="3053715" cy="30537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10790158" y="5857875"/>
            <a:ext cx="2949773" cy="368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Алексей Духанов</a:t>
            </a:r>
            <a:endParaRPr b="0" i="0" sz="2300" u="none" cap="none" strike="noStrike"/>
          </a:p>
        </p:txBody>
      </p:sp>
      <p:sp>
        <p:nvSpPr>
          <p:cNvPr id="243" name="Google Shape;243;p10"/>
          <p:cNvSpPr/>
          <p:nvPr/>
        </p:nvSpPr>
        <p:spPr>
          <a:xfrm>
            <a:off x="10790158" y="6361390"/>
            <a:ext cx="3053715" cy="71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д.т.н., доцент (ФПИ)</a:t>
            </a:r>
            <a:endParaRPr b="0" i="0" sz="1750" u="none" cap="none" strike="noStrike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Куратор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ce2c842c1_0_13"/>
          <p:cNvSpPr txBox="1"/>
          <p:nvPr/>
        </p:nvSpPr>
        <p:spPr>
          <a:xfrm>
            <a:off x="3200400" y="3603338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Благодарим за внимание!</a:t>
            </a:r>
            <a:endParaRPr b="1" sz="4400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2025-10-25T21:05:49Z</dcterms:created>
</cp:coreProperties>
</file>